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" Target="slide3.xml"/><Relationship Id="rId9" Type="http://schemas.openxmlformats.org/officeDocument/2006/relationships/slide" Target="slide7.xml"/><Relationship Id="rId10" Type="http://schemas.openxmlformats.org/officeDocument/2006/relationships/slide" Target="slide6.xml"/><Relationship Id="rId11" Type="http://schemas.openxmlformats.org/officeDocument/2006/relationships/slide" Target="slide8.xml"/><Relationship Id="rId12" Type="http://schemas.openxmlformats.org/officeDocument/2006/relationships/slide" Target="slide1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8305A"/>
                </a:solidFill>
                <a:latin typeface="Georgia"/>
              </a:rPr>
              <a:t>EM</a:t>
            </a:r>
            <a:r>
              <a:rPr sz="2000" b="1" i="0" baseline="30000">
                <a:solidFill>
                  <a:srgbClr val="18305A"/>
                </a:solidFill>
                <a:latin typeface="Georgia"/>
              </a:rPr>
              <a:t>2</a:t>
            </a:r>
            <a:r>
              <a:rPr sz="3400" b="1" i="0">
                <a:solidFill>
                  <a:srgbClr val="18305A"/>
                </a:solidFill>
                <a:latin typeface="Georgia"/>
              </a:rPr>
              <a:t>   Grade ___ · Module 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2C7A7B"/>
                </a:solidFill>
                <a:latin typeface="Georgia"/>
              </a:rPr>
              <a:t>Module Title — Table of 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874519"/>
            <a:ext cx="1828800" cy="228600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85615" y="2020824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TOPIC A</a:t>
            </a:r>
          </a:p>
        </p:txBody>
      </p:sp>
      <p:sp>
        <p:nvSpPr>
          <p:cNvPr id="7" name="GOTO::2">
            <a:hlinkClick xmlns:r="http://schemas.openxmlformats.org/officeDocument/2006/relationships" r:id="rId3" action="ppaction://hlinksldjump"/>
          </p:cNvPr>
          <p:cNvSpPr txBox="1"/>
          <p:nvPr/>
        </p:nvSpPr>
        <p:spPr>
          <a:xfrm>
            <a:off x="3749039" y="247802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 u="sng">
                <a:solidFill>
                  <a:srgbClr val="18305A"/>
                </a:solidFill>
                <a:latin typeface="Calibri"/>
              </a:rPr>
              <a:t>Lesson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25112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7A8794"/>
                </a:solidFill>
                <a:latin typeface="Calibri"/>
              </a:rPr>
              <a:t>Template — duplicate the 10 lesson slides for each lesson, fill the blanks, and drop in the images.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594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0292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18305A"/>
                </a:solidFill>
                <a:latin typeface="Georgia"/>
              </a:rPr>
              <a:t>Welcome!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0" i="1">
                <a:solidFill>
                  <a:srgbClr val="2C7A7B"/>
                </a:solidFill>
                <a:latin typeface="Georgia"/>
              </a:rPr>
              <a:t>Grade ___ · Module ___ · Lesson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84831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A8794"/>
                </a:solidFill>
                <a:latin typeface="Calibri"/>
              </a:rPr>
              <a:t>TODAY'S SCHEDULE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" y="2468880"/>
            <a:ext cx="1325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  <a:effectLst>
            <a:outerShdw blurRad="90000" dist="40000" dir="5400000" rotWithShape="0">
              <a:srgbClr val="18305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he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578608"/>
            <a:ext cx="960120" cy="960120"/>
          </a:xfrm>
          <a:prstGeom prst="rect">
            <a:avLst/>
          </a:prstGeom>
        </p:spPr>
      </p:pic>
      <p:sp>
        <p:nvSpPr>
          <p:cNvPr id="8" name="GOTO::3">
            <a:hlinkClick xmlns:r="http://schemas.openxmlformats.org/officeDocument/2006/relationships" r:id="rId8" action="ppaction://hlinksldjump"/>
          </p:cNvPr>
          <p:cNvSpPr/>
          <p:nvPr/>
        </p:nvSpPr>
        <p:spPr>
          <a:xfrm>
            <a:off x="873252" y="3886200"/>
            <a:ext cx="996695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Math Talk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6252" y="31089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C2CCD8"/>
                </a:solidFill>
                <a:latin typeface="Calibr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8860" y="2468880"/>
            <a:ext cx="1325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  <a:effectLst>
            <a:outerShdw blurRad="90000" dist="40000" dir="5400000" rotWithShape="0">
              <a:srgbClr val="18305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hed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1740" y="2578608"/>
            <a:ext cx="960120" cy="960120"/>
          </a:xfrm>
          <a:prstGeom prst="rect">
            <a:avLst/>
          </a:prstGeom>
        </p:spPr>
      </p:pic>
      <p:sp>
        <p:nvSpPr>
          <p:cNvPr id="12" name="GOTO::7">
            <a:hlinkClick xmlns:r="http://schemas.openxmlformats.org/officeDocument/2006/relationships" r:id="rId9" action="ppaction://hlinksldjump"/>
          </p:cNvPr>
          <p:cNvSpPr/>
          <p:nvPr/>
        </p:nvSpPr>
        <p:spPr>
          <a:xfrm>
            <a:off x="2473452" y="3886200"/>
            <a:ext cx="996695" cy="329184"/>
          </a:xfrm>
          <a:prstGeom prst="roundRect">
            <a:avLst>
              <a:gd name="adj" fmla="val 50000"/>
            </a:avLst>
          </a:prstGeom>
          <a:solidFill>
            <a:srgbClr val="C9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Randomizer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6452" y="31089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C2CCD8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09060" y="2468880"/>
            <a:ext cx="1325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  <a:effectLst>
            <a:outerShdw blurRad="90000" dist="40000" dir="5400000" rotWithShape="0">
              <a:srgbClr val="18305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hed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1939" y="2578608"/>
            <a:ext cx="960120" cy="960120"/>
          </a:xfrm>
          <a:prstGeom prst="rect">
            <a:avLst/>
          </a:prstGeom>
        </p:spPr>
      </p:pic>
      <p:sp>
        <p:nvSpPr>
          <p:cNvPr id="16" name="GOTO::6">
            <a:hlinkClick xmlns:r="http://schemas.openxmlformats.org/officeDocument/2006/relationships" r:id="rId10" action="ppaction://hlinksldjump"/>
          </p:cNvPr>
          <p:cNvSpPr/>
          <p:nvPr/>
        </p:nvSpPr>
        <p:spPr>
          <a:xfrm>
            <a:off x="4073652" y="3886200"/>
            <a:ext cx="996695" cy="329184"/>
          </a:xfrm>
          <a:prstGeom prst="roundRect">
            <a:avLst>
              <a:gd name="adj" fmla="val 50000"/>
            </a:avLst>
          </a:prstGeom>
          <a:solidFill>
            <a:srgbClr val="B8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6652" y="31089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C2CCD8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9260" y="2468880"/>
            <a:ext cx="1325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  <a:effectLst>
            <a:outerShdw blurRad="90000" dist="40000" dir="5400000" rotWithShape="0">
              <a:srgbClr val="18305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hed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2140" y="2578608"/>
            <a:ext cx="960120" cy="960120"/>
          </a:xfrm>
          <a:prstGeom prst="rect">
            <a:avLst/>
          </a:prstGeom>
        </p:spPr>
      </p:pic>
      <p:sp>
        <p:nvSpPr>
          <p:cNvPr id="20" name="GOTO::8">
            <a:hlinkClick xmlns:r="http://schemas.openxmlformats.org/officeDocument/2006/relationships" r:id="rId11" action="ppaction://hlinksldjump"/>
          </p:cNvPr>
          <p:cNvSpPr/>
          <p:nvPr/>
        </p:nvSpPr>
        <p:spPr>
          <a:xfrm>
            <a:off x="5673852" y="3886200"/>
            <a:ext cx="996695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6852" y="3108960"/>
            <a:ext cx="3108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C2CCD8"/>
                </a:solidFill>
                <a:latin typeface="Calibri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09460" y="2468880"/>
            <a:ext cx="13258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  <a:effectLst>
            <a:outerShdw blurRad="90000" dist="40000" dir="5400000" rotWithShape="0">
              <a:srgbClr val="18305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hed_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2340" y="2578608"/>
            <a:ext cx="960120" cy="960120"/>
          </a:xfrm>
          <a:prstGeom prst="rect">
            <a:avLst/>
          </a:prstGeom>
        </p:spPr>
      </p:pic>
      <p:sp>
        <p:nvSpPr>
          <p:cNvPr id="24" name="GOTO::11">
            <a:hlinkClick xmlns:r="http://schemas.openxmlformats.org/officeDocument/2006/relationships" r:id="rId12" action="ppaction://hlinksldjump"/>
          </p:cNvPr>
          <p:cNvSpPr/>
          <p:nvPr/>
        </p:nvSpPr>
        <p:spPr>
          <a:xfrm>
            <a:off x="7274052" y="3886200"/>
            <a:ext cx="996695" cy="329184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7594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   ·   Lesson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2743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MATH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C0392B"/>
                </a:solidFill>
                <a:latin typeface="Georgia"/>
              </a:rPr>
              <a:t>Math Talk Routine</a:t>
            </a:r>
          </a:p>
        </p:txBody>
      </p:sp>
      <p:pic>
        <p:nvPicPr>
          <p:cNvPr id="5" name="Picture 4" descr="timer_10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"/>
            <a:ext cx="1325880" cy="538639"/>
          </a:xfrm>
          <a:prstGeom prst="rect">
            <a:avLst/>
          </a:prstGeom>
        </p:spPr>
      </p:pic>
      <p:sp>
        <p:nvSpPr>
          <p:cNvPr id="6" name="TimerBar::120"/>
          <p:cNvSpPr/>
          <p:nvPr/>
        </p:nvSpPr>
        <p:spPr>
          <a:xfrm>
            <a:off x="6493611" y="812958"/>
            <a:ext cx="1140256" cy="77724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59" y="1298448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  <a:effectLst>
            <a:outerShdw blurRad="90000" dist="40000" dir="5400000" rotWithShape="0">
              <a:srgbClr val="18305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1" y="1444751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9" name="Picture 8" descr="mtr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39" y="1773936"/>
            <a:ext cx="1188720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7" y="3145536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8305A"/>
                </a:solidFill>
                <a:latin typeface="Calibri"/>
              </a:rPr>
              <a:t>Walk to the Math Talk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39" y="3547872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46535F"/>
                </a:solidFill>
                <a:latin typeface="Calibri"/>
              </a:rPr>
              <a:t>Gather and stand around the projected Math Talk.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59" y="1298448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  <a:effectLst>
            <a:outerShdw blurRad="90000" dist="40000" dir="5400000" rotWithShape="0">
              <a:srgbClr val="18305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2151" y="1444751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4" name="Picture 13" descr="mtr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39" y="1773936"/>
            <a:ext cx="1188720" cy="1188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47287" y="3145536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8305A"/>
                </a:solidFill>
                <a:latin typeface="Calibri"/>
              </a:rPr>
              <a:t>Notice &amp; Wonder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3547872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46535F"/>
                </a:solidFill>
                <a:latin typeface="Calibri"/>
              </a:rPr>
              <a:t>What do you notice? What do you wonder?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59" y="1298448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  <a:effectLst>
            <a:outerShdw blurRad="90000" dist="40000" dir="5400000" rotWithShape="0">
              <a:srgbClr val="18305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5351" y="1444751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9" name="Picture 18" descr="mtr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773936"/>
            <a:ext cx="1188720" cy="1188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0488" y="3145536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8305A"/>
                </a:solidFill>
                <a:latin typeface="Calibri"/>
              </a:rPr>
              <a:t>Share, Listen, 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547872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46535F"/>
                </a:solidFill>
                <a:latin typeface="Calibri"/>
              </a:rPr>
              <a:t>Share your thinking and build on others'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7594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   ·   Lesson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200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wipe(right)">
                                      <p:cBhvr>
                                        <p:cTn id="7" dur="12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2743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MATH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Georgia"/>
              </a:rPr>
              <a:t>Math Talk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051560"/>
            <a:ext cx="7315200" cy="3383280"/>
          </a:xfrm>
          <a:prstGeom prst="roundRect">
            <a:avLst>
              <a:gd name="adj" fmla="val 4000"/>
            </a:avLst>
          </a:prstGeom>
          <a:solidFill>
            <a:srgbClr val="F7FAFE"/>
          </a:solidFill>
          <a:ln w="22225">
            <a:solidFill>
              <a:srgbClr val="B7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8895A6"/>
                </a:solidFill>
                <a:latin typeface="Calibri"/>
              </a:rPr>
              <a:t>Drop the Math Talk image here</a:t>
            </a:r>
          </a:p>
          <a:p>
            <a:pPr algn="ctr"/>
            <a:r>
              <a:rPr sz="1000" b="0" i="1">
                <a:solidFill>
                  <a:srgbClr val="A6B2C0"/>
                </a:solidFill>
                <a:latin typeface="Calibri"/>
              </a:rPr>
              <a:t>mathTalkImg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7594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   ·   Lesson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2743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MATH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0392B"/>
                </a:solidFill>
                <a:latin typeface="Georgia"/>
              </a:rPr>
              <a:t>Math Talk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051560"/>
            <a:ext cx="7315200" cy="3383280"/>
          </a:xfrm>
          <a:prstGeom prst="roundRect">
            <a:avLst>
              <a:gd name="adj" fmla="val 4000"/>
            </a:avLst>
          </a:prstGeom>
          <a:solidFill>
            <a:srgbClr val="F7FAFE"/>
          </a:solidFill>
          <a:ln w="22225">
            <a:solidFill>
              <a:srgbClr val="B7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8895A6"/>
                </a:solidFill>
                <a:latin typeface="Calibri"/>
              </a:rPr>
              <a:t>Drop the Math Talk image here</a:t>
            </a:r>
          </a:p>
          <a:p>
            <a:pPr algn="ctr"/>
            <a:r>
              <a:rPr sz="1000" b="0" i="1">
                <a:solidFill>
                  <a:srgbClr val="A6B2C0"/>
                </a:solidFill>
                <a:latin typeface="Calibri"/>
              </a:rPr>
              <a:t>mathTalkImg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47594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   ·   Lesson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pic>
        <p:nvPicPr>
          <p:cNvPr id="3" name="Picture 2" descr="timer_10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7744"/>
            <a:ext cx="1325880" cy="538639"/>
          </a:xfrm>
          <a:prstGeom prst="rect">
            <a:avLst/>
          </a:prstGeom>
        </p:spPr>
      </p:pic>
      <p:sp>
        <p:nvSpPr>
          <p:cNvPr id="4" name="TimerBar::120"/>
          <p:cNvSpPr/>
          <p:nvPr/>
        </p:nvSpPr>
        <p:spPr>
          <a:xfrm>
            <a:off x="476859" y="812958"/>
            <a:ext cx="1140256" cy="77724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9260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8305A"/>
                </a:solidFill>
                <a:latin typeface="Georgia"/>
              </a:rPr>
              <a:t>Do these cards match mathematically?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768096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2C7A7B"/>
                </a:solidFill>
                <a:latin typeface="Georgia"/>
              </a:rPr>
              <a:t>Why or why not?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39" y="1417320"/>
            <a:ext cx="246888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8895A6"/>
                </a:solidFill>
                <a:latin typeface="Calibri"/>
              </a:rPr>
              <a:t>Drop sort card 1</a:t>
            </a:r>
          </a:p>
          <a:p>
            <a:pPr algn="ctr"/>
            <a:r>
              <a:rPr sz="1000" b="0" i="1">
                <a:solidFill>
                  <a:srgbClr val="A6B2C0"/>
                </a:solidFill>
                <a:latin typeface="Calibri"/>
              </a:rPr>
              <a:t>sortCard1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46888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8895A6"/>
                </a:solidFill>
                <a:latin typeface="Calibri"/>
              </a:rPr>
              <a:t>Drop sort card 2</a:t>
            </a:r>
          </a:p>
          <a:p>
            <a:pPr algn="ctr"/>
            <a:r>
              <a:rPr sz="1000" b="0" i="1">
                <a:solidFill>
                  <a:srgbClr val="A6B2C0"/>
                </a:solidFill>
                <a:latin typeface="Calibri"/>
              </a:rPr>
              <a:t>sortCard2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2468880" cy="1691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F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8895A6"/>
                </a:solidFill>
                <a:latin typeface="Calibri"/>
              </a:rPr>
              <a:t>Drop sort card 3</a:t>
            </a:r>
          </a:p>
          <a:p>
            <a:pPr algn="ctr"/>
            <a:r>
              <a:rPr sz="1000" b="0" i="1">
                <a:solidFill>
                  <a:srgbClr val="A6B2C0"/>
                </a:solidFill>
                <a:latin typeface="Calibri"/>
              </a:rPr>
              <a:t>sortCard3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8305A"/>
                </a:solidFill>
                <a:latin typeface="Calibri"/>
              </a:rPr>
              <a:t>Tell someone near you: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46535F"/>
                </a:solidFill>
                <a:latin typeface="Calibri"/>
              </a:rPr>
              <a:t>The cards match because…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46535F"/>
                </a:solidFill>
                <a:latin typeface="Calibri"/>
              </a:rPr>
              <a:t>The cards do </a:t>
            </a:r>
            <a:r>
              <a:rPr sz="1400" b="1" i="0">
                <a:solidFill>
                  <a:srgbClr val="46535F"/>
                </a:solidFill>
                <a:latin typeface="Calibri"/>
              </a:rPr>
              <a:t>NOT</a:t>
            </a:r>
            <a:r>
              <a:rPr sz="1400" b="0" i="0">
                <a:solidFill>
                  <a:srgbClr val="46535F"/>
                </a:solidFill>
                <a:latin typeface="Calibri"/>
              </a:rPr>
              <a:t> match because…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0" i="1">
                <a:solidFill>
                  <a:srgbClr val="2C7A7B"/>
                </a:solidFill>
                <a:latin typeface="Calibri"/>
              </a:rPr>
              <a:t>Who wants to share their thinking?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7594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   ·   Lesson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200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wipe(right)">
                                      <p:cBhvr>
                                        <p:cTn id="7" dur="12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2743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9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RANDOMIZER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292608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C2CCD8"/>
                </a:solidFill>
                <a:latin typeface="Calibri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743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B8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SORT</a:t>
            </a:r>
          </a:p>
        </p:txBody>
      </p:sp>
      <p:pic>
        <p:nvPicPr>
          <p:cNvPr id="6" name="Picture 5" descr="timer_107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"/>
            <a:ext cx="1325880" cy="538639"/>
          </a:xfrm>
          <a:prstGeom prst="rect">
            <a:avLst/>
          </a:prstGeom>
        </p:spPr>
      </p:pic>
      <p:sp>
        <p:nvSpPr>
          <p:cNvPr id="7" name="TimerBar::600"/>
          <p:cNvSpPr/>
          <p:nvPr/>
        </p:nvSpPr>
        <p:spPr>
          <a:xfrm>
            <a:off x="6493611" y="812958"/>
            <a:ext cx="1140256" cy="77724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3886200" cy="306324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7957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C9821B"/>
                </a:solidFill>
                <a:latin typeface="Georgia"/>
              </a:rPr>
              <a:t>Randomizer Routine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00200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6535F"/>
                </a:solidFill>
                <a:latin typeface="Calibri"/>
              </a:rPr>
              <a:t>1.  Choose a card from the basket.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6535F"/>
                </a:solidFill>
                <a:latin typeface="Calibri"/>
              </a:rPr>
              <a:t>2.  Find two people whose cards mathematically match yours.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6535F"/>
                </a:solidFill>
                <a:latin typeface="Calibri"/>
              </a:rPr>
              <a:t>3.  Bring the match to the teacher: “Our cards match because…”</a:t>
            </a:r>
          </a:p>
        </p:txBody>
      </p:sp>
      <p:pic>
        <p:nvPicPr>
          <p:cNvPr id="11" name="Picture 10" descr="rand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29" y="3017520"/>
            <a:ext cx="943428" cy="914400"/>
          </a:xfrm>
          <a:prstGeom prst="rect">
            <a:avLst/>
          </a:prstGeom>
        </p:spPr>
      </p:pic>
      <p:pic>
        <p:nvPicPr>
          <p:cNvPr id="12" name="Picture 11" descr="rand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997" y="3017520"/>
            <a:ext cx="943428" cy="914400"/>
          </a:xfrm>
          <a:prstGeom prst="rect">
            <a:avLst/>
          </a:prstGeom>
        </p:spPr>
      </p:pic>
      <p:pic>
        <p:nvPicPr>
          <p:cNvPr id="13" name="Picture 12" descr="rand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1565" y="3017520"/>
            <a:ext cx="943428" cy="914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0" y="1051560"/>
            <a:ext cx="3886200" cy="3063240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17957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B8901A"/>
                </a:solidFill>
                <a:latin typeface="Georgia"/>
              </a:rPr>
              <a:t>Sort Routine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600200"/>
            <a:ext cx="3337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6535F"/>
                </a:solidFill>
                <a:latin typeface="Calibri"/>
              </a:rPr>
              <a:t>1.  With your group, prove your cards match and get the full sort from your teacher.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6535F"/>
                </a:solidFill>
                <a:latin typeface="Calibri"/>
              </a:rPr>
              <a:t>2.  Work as a team to sort the cards in a way that makes sense to you.</a:t>
            </a:r>
          </a:p>
        </p:txBody>
      </p:sp>
      <p:pic>
        <p:nvPicPr>
          <p:cNvPr id="17" name="Picture 16" descr="work_te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8368" y="2926079"/>
            <a:ext cx="1084942" cy="10515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4048" y="47594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   ·   Lesson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6000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wipe(right)">
                                      <p:cBhvr>
                                        <p:cTn id="7" dur="6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2743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7D32"/>
                </a:solidFill>
                <a:latin typeface="Georgia"/>
              </a:rPr>
              <a:t>DARE Routine</a:t>
            </a:r>
          </a:p>
        </p:txBody>
      </p:sp>
      <p:pic>
        <p:nvPicPr>
          <p:cNvPr id="5" name="Picture 4" descr="timer_10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"/>
            <a:ext cx="1325880" cy="538639"/>
          </a:xfrm>
          <a:prstGeom prst="rect">
            <a:avLst/>
          </a:prstGeom>
        </p:spPr>
      </p:pic>
      <p:sp>
        <p:nvSpPr>
          <p:cNvPr id="6" name="TimerBar::420"/>
          <p:cNvSpPr/>
          <p:nvPr/>
        </p:nvSpPr>
        <p:spPr>
          <a:xfrm>
            <a:off x="6493611" y="812958"/>
            <a:ext cx="1140256" cy="77724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re_ic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521" y="1097280"/>
            <a:ext cx="3896957" cy="1051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280160" y="2331720"/>
            <a:ext cx="6583680" cy="1554480"/>
          </a:xfrm>
          <a:prstGeom prst="roundRect">
            <a:avLst>
              <a:gd name="adj" fmla="val 4000"/>
            </a:avLst>
          </a:prstGeom>
          <a:solidFill>
            <a:srgbClr val="F7FAFE"/>
          </a:solidFill>
          <a:ln w="22225">
            <a:solidFill>
              <a:srgbClr val="B7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8895A6"/>
                </a:solidFill>
                <a:latin typeface="Calibri"/>
              </a:rPr>
              <a:t>Drop the DARE question here</a:t>
            </a:r>
          </a:p>
          <a:p>
            <a:pPr algn="ctr"/>
            <a:r>
              <a:rPr sz="1000" b="0" i="1">
                <a:solidFill>
                  <a:srgbClr val="A6B2C0"/>
                </a:solidFill>
                <a:latin typeface="Calibri"/>
              </a:rPr>
              <a:t>dareQuestion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594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   ·   Lesson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200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wipe(right)">
                                      <p:cBhvr>
                                        <p:cTn id="7" dur="42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2743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7D32"/>
                </a:solidFill>
                <a:latin typeface="Georgia"/>
              </a:rPr>
              <a:t>DARE Routine</a:t>
            </a:r>
          </a:p>
        </p:txBody>
      </p:sp>
      <p:pic>
        <p:nvPicPr>
          <p:cNvPr id="5" name="Picture 4" descr="timer_109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"/>
            <a:ext cx="1325880" cy="538639"/>
          </a:xfrm>
          <a:prstGeom prst="rect">
            <a:avLst/>
          </a:prstGeom>
        </p:spPr>
      </p:pic>
      <p:sp>
        <p:nvSpPr>
          <p:cNvPr id="6" name="TimerBar::360"/>
          <p:cNvSpPr/>
          <p:nvPr/>
        </p:nvSpPr>
        <p:spPr>
          <a:xfrm>
            <a:off x="6493611" y="812958"/>
            <a:ext cx="1140256" cy="77724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re_ic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5561"/>
            <a:ext cx="3108960" cy="838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82880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8305A"/>
                </a:solidFill>
                <a:latin typeface="Georgia"/>
              </a:rPr>
              <a:t>Share &amp; critique strategies.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8305A"/>
                </a:solidFill>
                <a:latin typeface="Georgia"/>
              </a:rPr>
              <a:t>Look for your one edit!</a:t>
            </a:r>
          </a:p>
        </p:txBody>
      </p:sp>
      <p:pic>
        <p:nvPicPr>
          <p:cNvPr id="9" name="Picture 8" descr="mtr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97480"/>
            <a:ext cx="1417320" cy="1417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40280" y="30632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C7A7B"/>
                </a:solidFill>
                <a:latin typeface="Calibri"/>
              </a:rPr>
              <a:t>What do you notice?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C7A7B"/>
                </a:solidFill>
                <a:latin typeface="Calibri"/>
              </a:rPr>
              <a:t>What do you wonder?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90872" y="868680"/>
            <a:ext cx="4160520" cy="3703320"/>
          </a:xfrm>
          <a:prstGeom prst="roundRect">
            <a:avLst>
              <a:gd name="adj" fmla="val 4000"/>
            </a:avLst>
          </a:prstGeom>
          <a:solidFill>
            <a:srgbClr val="F7FAFE"/>
          </a:solidFill>
          <a:ln w="22225">
            <a:solidFill>
              <a:srgbClr val="B7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8895A6"/>
                </a:solidFill>
                <a:latin typeface="Calibri"/>
              </a:rPr>
              <a:t>Drop the DARE answer-guide image here</a:t>
            </a:r>
          </a:p>
          <a:p>
            <a:pPr algn="ctr"/>
            <a:r>
              <a:rPr sz="1000" b="0" i="1">
                <a:solidFill>
                  <a:srgbClr val="A6B2C0"/>
                </a:solidFill>
                <a:latin typeface="Calibri"/>
              </a:rPr>
              <a:t>dareAnswerImg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7594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   ·   Lesson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3600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wipe(right)">
                                      <p:cBhvr>
                                        <p:cTn id="7" dur="36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2743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7D32"/>
                </a:solidFill>
                <a:latin typeface="Georgia"/>
              </a:rPr>
              <a:t>DARE Routine</a:t>
            </a:r>
          </a:p>
        </p:txBody>
      </p:sp>
      <p:pic>
        <p:nvPicPr>
          <p:cNvPr id="5" name="Picture 4" descr="timer_10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"/>
            <a:ext cx="1325880" cy="538639"/>
          </a:xfrm>
          <a:prstGeom prst="rect">
            <a:avLst/>
          </a:prstGeom>
        </p:spPr>
      </p:pic>
      <p:sp>
        <p:nvSpPr>
          <p:cNvPr id="6" name="TimerBar::120"/>
          <p:cNvSpPr/>
          <p:nvPr/>
        </p:nvSpPr>
        <p:spPr>
          <a:xfrm>
            <a:off x="6493611" y="812958"/>
            <a:ext cx="1140256" cy="77724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8305A"/>
                </a:solidFill>
                <a:latin typeface="Georgia"/>
              </a:rPr>
              <a:t>Time to Edit!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6535F"/>
                </a:solidFill>
                <a:latin typeface="Calibri"/>
              </a:rPr>
              <a:t>Use an edit pen or a different color to record new thinking, connections, or strategies.</a:t>
            </a:r>
          </a:p>
        </p:txBody>
      </p:sp>
      <p:pic>
        <p:nvPicPr>
          <p:cNvPr id="9" name="Picture 8" descr="edit_pe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42" y="2697480"/>
            <a:ext cx="1132114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2240280" y="2743200"/>
            <a:ext cx="2377440" cy="841248"/>
          </a:xfrm>
          <a:prstGeom prst="roundRect">
            <a:avLst>
              <a:gd name="adj" fmla="val 14000"/>
            </a:avLst>
          </a:prstGeom>
          <a:solidFill>
            <a:srgbClr val="EEF3FA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 i="1">
                <a:solidFill>
                  <a:srgbClr val="2E7D32"/>
                </a:solidFill>
                <a:latin typeface="Georgia"/>
              </a:rPr>
              <a:t>My edit was…</a:t>
            </a:r>
          </a:p>
        </p:txBody>
      </p:sp>
      <p:sp>
        <p:nvSpPr>
          <p:cNvPr id="11" name="Freeform 10"/>
          <p:cNvSpPr/>
          <p:nvPr/>
        </p:nvSpPr>
        <p:spPr>
          <a:xfrm>
            <a:off x="2651760" y="3584448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0" y="0"/>
                </a:moveTo>
                <a:lnTo>
                  <a:pt x="274320" y="0"/>
                </a:lnTo>
                <a:lnTo>
                  <a:pt x="0" y="365760"/>
                </a:lnTo>
                <a:lnTo>
                  <a:pt x="0" y="0"/>
                </a:lnTo>
                <a:close/>
              </a:path>
            </a:pathLst>
          </a:custGeom>
          <a:solidFill>
            <a:srgbClr val="EEF3FA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90872" y="868680"/>
            <a:ext cx="4160520" cy="3703320"/>
          </a:xfrm>
          <a:prstGeom prst="roundRect">
            <a:avLst>
              <a:gd name="adj" fmla="val 4000"/>
            </a:avLst>
          </a:prstGeom>
          <a:solidFill>
            <a:srgbClr val="F7FAFE"/>
          </a:solidFill>
          <a:ln w="22225">
            <a:solidFill>
              <a:srgbClr val="B7C4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8895A6"/>
                </a:solidFill>
                <a:latin typeface="Calibri"/>
              </a:rPr>
              <a:t>Drop the DARE answer-guide image here</a:t>
            </a:r>
          </a:p>
          <a:p>
            <a:pPr algn="ctr"/>
            <a:r>
              <a:rPr sz="1000" b="0" i="1">
                <a:solidFill>
                  <a:srgbClr val="A6B2C0"/>
                </a:solidFill>
                <a:latin typeface="Calibri"/>
              </a:rPr>
              <a:t>dareAnswerImg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7594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   ·   Lesson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200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wipe(right)">
                                      <p:cBhvr>
                                        <p:cTn id="7" dur="12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"/>
            <a:ext cx="1051560" cy="34602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2743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6FE0"/>
                </a:solidFill>
                <a:latin typeface="Georgia"/>
              </a:rPr>
              <a:t>Game / Task Routine</a:t>
            </a:r>
          </a:p>
        </p:txBody>
      </p:sp>
      <p:pic>
        <p:nvPicPr>
          <p:cNvPr id="5" name="Picture 4" descr="timer_10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"/>
            <a:ext cx="1325880" cy="538639"/>
          </a:xfrm>
          <a:prstGeom prst="rect">
            <a:avLst/>
          </a:prstGeom>
        </p:spPr>
      </p:pic>
      <p:sp>
        <p:nvSpPr>
          <p:cNvPr id="6" name="TimerBar::420"/>
          <p:cNvSpPr/>
          <p:nvPr/>
        </p:nvSpPr>
        <p:spPr>
          <a:xfrm>
            <a:off x="6493611" y="812958"/>
            <a:ext cx="1140256" cy="77724"/>
          </a:xfrm>
          <a:prstGeom prst="roundRect">
            <a:avLst>
              <a:gd name="adj" fmla="val 50000"/>
            </a:avLst>
          </a:prstGeom>
          <a:solidFill>
            <a:srgbClr val="3F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59" y="1298448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  <a:effectLst>
            <a:outerShdw blurRad="90000" dist="40000" dir="5400000" rotWithShape="0">
              <a:srgbClr val="18305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1" y="1444751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9" name="Picture 8" descr="gat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571" y="1773936"/>
            <a:ext cx="1226457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087" y="3145536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8305A"/>
                </a:solidFill>
                <a:latin typeface="Calibri"/>
              </a:rPr>
              <a:t>Gather Materials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39" y="3547872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46535F"/>
                </a:solidFill>
                <a:latin typeface="Calibri"/>
              </a:rPr>
              <a:t>Get your whiteboard, marker, eraser, and any tools you need.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59" y="1298448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</a:ln>
          <a:effectLst/>
          <a:effectLst>
            <a:outerShdw blurRad="90000" dist="40000" dir="5400000" rotWithShape="0">
              <a:srgbClr val="18305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02151" y="1444751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4" name="Picture 13" descr="work_t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8771" y="1773936"/>
            <a:ext cx="1226457" cy="1188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47287" y="3145536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18305A"/>
                </a:solidFill>
                <a:latin typeface="Calibri"/>
              </a:rPr>
              <a:t>Work with Your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39" y="3547872"/>
            <a:ext cx="2103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46535F"/>
                </a:solidFill>
                <a:latin typeface="Calibri"/>
              </a:rPr>
              <a:t>Play the game or complete the task together, taking turns.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59" y="1298448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6184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6FE0"/>
                </a:solidFill>
                <a:latin typeface="Georgia"/>
              </a:rPr>
              <a:t>Today's Game /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258568"/>
            <a:ext cx="2011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8895A6"/>
                </a:solidFill>
                <a:latin typeface="Calibri"/>
              </a:rPr>
              <a:t>Add today's specific game directions or task here.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759452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7313B"/>
                </a:solidFill>
                <a:latin typeface="Calibri"/>
              </a:rPr>
              <a:t>CCSS  </a:t>
            </a:r>
            <a:r>
              <a:rPr sz="900" b="0" i="0">
                <a:solidFill>
                  <a:srgbClr val="7A8794"/>
                </a:solidFill>
                <a:latin typeface="Calibri"/>
              </a:rPr>
              <a:t>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59452"/>
            <a:ext cx="35478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7A8794"/>
                </a:solidFill>
                <a:latin typeface="Calibri"/>
              </a:rPr>
              <a:t>Grade ___   ·   Module ___   ·   Lesson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200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wipe(right)">
                                      <p:cBhvr>
                                        <p:cTn id="7" dur="42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